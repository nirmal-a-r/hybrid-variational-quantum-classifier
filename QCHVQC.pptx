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F785D-4B6D-424A-ABDE-2367C65937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6C6687C-62DD-42D2-B715-DEE6BF77A4F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ideal-simulator hybrid model is expected to achieve reasonable classification accuracy on the compressed feature set, confirming the ansatz can learn a meaningful decision boundary. </a:t>
          </a:r>
          <a:endParaRPr lang="en-US"/>
        </a:p>
      </dgm:t>
    </dgm:pt>
    <dgm:pt modelId="{01C20E8D-A902-443A-9661-3CD291628E99}" type="parTrans" cxnId="{D11686B9-9230-4CC0-B9D1-55505FC6FC68}">
      <dgm:prSet/>
      <dgm:spPr/>
      <dgm:t>
        <a:bodyPr/>
        <a:lstStyle/>
        <a:p>
          <a:endParaRPr lang="en-US"/>
        </a:p>
      </dgm:t>
    </dgm:pt>
    <dgm:pt modelId="{0BB6527B-1F96-4A5E-91A8-A84596301533}" type="sibTrans" cxnId="{D11686B9-9230-4CC0-B9D1-55505FC6FC68}">
      <dgm:prSet/>
      <dgm:spPr/>
      <dgm:t>
        <a:bodyPr/>
        <a:lstStyle/>
        <a:p>
          <a:endParaRPr lang="en-US"/>
        </a:p>
      </dgm:t>
    </dgm:pt>
    <dgm:pt modelId="{F53F1C76-C689-4B0B-AC1D-BA018064B8F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manually built ansatz is expected to perform comparably to  though not necessarily better than the auto-generated circuits used in prior hybrid VQC imaging work, with the key contribution being interpretability rather than raw accuracy. </a:t>
          </a:r>
          <a:endParaRPr lang="en-US"/>
        </a:p>
      </dgm:t>
    </dgm:pt>
    <dgm:pt modelId="{913B9480-B57A-4467-930C-2694736E69F3}" type="parTrans" cxnId="{76D6E8CE-6A11-44E1-9A27-50B26FC2DA71}">
      <dgm:prSet/>
      <dgm:spPr/>
      <dgm:t>
        <a:bodyPr/>
        <a:lstStyle/>
        <a:p>
          <a:endParaRPr lang="en-US"/>
        </a:p>
      </dgm:t>
    </dgm:pt>
    <dgm:pt modelId="{5CC2E148-1185-45D0-BE27-A8521C727F10}" type="sibTrans" cxnId="{76D6E8CE-6A11-44E1-9A27-50B26FC2DA71}">
      <dgm:prSet/>
      <dgm:spPr/>
      <dgm:t>
        <a:bodyPr/>
        <a:lstStyle/>
        <a:p>
          <a:endParaRPr lang="en-US"/>
        </a:p>
      </dgm:t>
    </dgm:pt>
    <dgm:pt modelId="{01A888C1-AB2D-4826-8B54-C57FD34984D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Real-hardware runs (where accessible) are expected to show reduced accuracy relative to the simulator, due to gate noise and limited qubit coherence this gap itself is a result worth reporting.</a:t>
          </a:r>
          <a:endParaRPr lang="en-US"/>
        </a:p>
      </dgm:t>
    </dgm:pt>
    <dgm:pt modelId="{48A40A04-4F0B-453E-A4B6-E1AD2076B334}" type="parTrans" cxnId="{0EB68D93-F788-4EF5-BF2D-EB4EDA4C2E07}">
      <dgm:prSet/>
      <dgm:spPr/>
      <dgm:t>
        <a:bodyPr/>
        <a:lstStyle/>
        <a:p>
          <a:endParaRPr lang="en-US"/>
        </a:p>
      </dgm:t>
    </dgm:pt>
    <dgm:pt modelId="{5102C717-9C2F-42BE-A772-ECF3B48C49E5}" type="sibTrans" cxnId="{0EB68D93-F788-4EF5-BF2D-EB4EDA4C2E07}">
      <dgm:prSet/>
      <dgm:spPr/>
      <dgm:t>
        <a:bodyPr/>
        <a:lstStyle/>
        <a:p>
          <a:endParaRPr lang="en-US"/>
        </a:p>
      </dgm:t>
    </dgm:pt>
    <dgm:pt modelId="{1D358878-E11A-482A-969A-20E45C07B34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Success is evaluated primarily via accuracy and F1-score, compared against: (a) the classical-only baseline, and (b) benchmark figures reported in the closest prior papers (blood cell and kidney disease VQC studies). </a:t>
          </a:r>
          <a:endParaRPr lang="en-US"/>
        </a:p>
      </dgm:t>
    </dgm:pt>
    <dgm:pt modelId="{D012B614-AFF0-4490-81C9-071E008996D1}" type="parTrans" cxnId="{9E3B60D4-5B9C-458A-AB94-F38BE7476693}">
      <dgm:prSet/>
      <dgm:spPr/>
      <dgm:t>
        <a:bodyPr/>
        <a:lstStyle/>
        <a:p>
          <a:endParaRPr lang="en-US"/>
        </a:p>
      </dgm:t>
    </dgm:pt>
    <dgm:pt modelId="{54DDC243-A6FC-4AD4-B96A-714D86A03AEB}" type="sibTrans" cxnId="{9E3B60D4-5B9C-458A-AB94-F38BE7476693}">
      <dgm:prSet/>
      <dgm:spPr/>
      <dgm:t>
        <a:bodyPr/>
        <a:lstStyle/>
        <a:p>
          <a:endParaRPr lang="en-US"/>
        </a:p>
      </dgm:t>
    </dgm:pt>
    <dgm:pt modelId="{B07F39F0-CC19-4EBE-B84F-1571698467C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Secondary evaluation: how ansatz depth (number of variational layers) trades off against training stability and final accuracy.</a:t>
          </a:r>
          <a:endParaRPr lang="en-US"/>
        </a:p>
      </dgm:t>
    </dgm:pt>
    <dgm:pt modelId="{CEDFA5DC-A250-4BC8-B212-8350489A31B6}" type="parTrans" cxnId="{D7877DEE-2023-4B46-B773-D3A9B5E9B3B0}">
      <dgm:prSet/>
      <dgm:spPr/>
      <dgm:t>
        <a:bodyPr/>
        <a:lstStyle/>
        <a:p>
          <a:endParaRPr lang="en-US"/>
        </a:p>
      </dgm:t>
    </dgm:pt>
    <dgm:pt modelId="{E6313963-EF6A-4442-BB03-2F6AC9F4103E}" type="sibTrans" cxnId="{D7877DEE-2023-4B46-B773-D3A9B5E9B3B0}">
      <dgm:prSet/>
      <dgm:spPr/>
      <dgm:t>
        <a:bodyPr/>
        <a:lstStyle/>
        <a:p>
          <a:endParaRPr lang="en-US"/>
        </a:p>
      </dgm:t>
    </dgm:pt>
    <dgm:pt modelId="{1B9755D7-22C2-4214-A5F1-F8AF3CED2C73}" type="pres">
      <dgm:prSet presAssocID="{5D6F785D-4B6D-424A-ABDE-2367C6593724}" presName="root" presStyleCnt="0">
        <dgm:presLayoutVars>
          <dgm:dir/>
          <dgm:resizeHandles val="exact"/>
        </dgm:presLayoutVars>
      </dgm:prSet>
      <dgm:spPr/>
    </dgm:pt>
    <dgm:pt modelId="{43C57955-AF68-47BB-92C0-BBDC57CA6F73}" type="pres">
      <dgm:prSet presAssocID="{A6C6687C-62DD-42D2-B715-DEE6BF77A4F0}" presName="compNode" presStyleCnt="0"/>
      <dgm:spPr/>
    </dgm:pt>
    <dgm:pt modelId="{A85D51A1-BAC8-402E-93A4-90A0C99BF506}" type="pres">
      <dgm:prSet presAssocID="{A6C6687C-62DD-42D2-B715-DEE6BF77A4F0}" presName="bgRect" presStyleLbl="bgShp" presStyleIdx="0" presStyleCnt="5"/>
      <dgm:spPr/>
    </dgm:pt>
    <dgm:pt modelId="{9D834A84-D288-422F-9C3D-4EE398398D1E}" type="pres">
      <dgm:prSet presAssocID="{A6C6687C-62DD-42D2-B715-DEE6BF77A4F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498B6B-0DEE-4AF4-879B-2B6F28A2424B}" type="pres">
      <dgm:prSet presAssocID="{A6C6687C-62DD-42D2-B715-DEE6BF77A4F0}" presName="spaceRect" presStyleCnt="0"/>
      <dgm:spPr/>
    </dgm:pt>
    <dgm:pt modelId="{329DA4F3-6C29-46A5-8B85-58B93B854529}" type="pres">
      <dgm:prSet presAssocID="{A6C6687C-62DD-42D2-B715-DEE6BF77A4F0}" presName="parTx" presStyleLbl="revTx" presStyleIdx="0" presStyleCnt="5">
        <dgm:presLayoutVars>
          <dgm:chMax val="0"/>
          <dgm:chPref val="0"/>
        </dgm:presLayoutVars>
      </dgm:prSet>
      <dgm:spPr/>
    </dgm:pt>
    <dgm:pt modelId="{C84D6A8B-AAD4-4FF5-9976-D3BF7EF00D3A}" type="pres">
      <dgm:prSet presAssocID="{0BB6527B-1F96-4A5E-91A8-A84596301533}" presName="sibTrans" presStyleCnt="0"/>
      <dgm:spPr/>
    </dgm:pt>
    <dgm:pt modelId="{4C18B76D-6E1A-4A5B-803D-59790369B1E1}" type="pres">
      <dgm:prSet presAssocID="{F53F1C76-C689-4B0B-AC1D-BA018064B8F5}" presName="compNode" presStyleCnt="0"/>
      <dgm:spPr/>
    </dgm:pt>
    <dgm:pt modelId="{86AC26B1-F4D2-4C50-813B-453F4DFA06E6}" type="pres">
      <dgm:prSet presAssocID="{F53F1C76-C689-4B0B-AC1D-BA018064B8F5}" presName="bgRect" presStyleLbl="bgShp" presStyleIdx="1" presStyleCnt="5"/>
      <dgm:spPr/>
    </dgm:pt>
    <dgm:pt modelId="{3CCBEE2E-4049-404F-B1D3-1E48DDD56FAA}" type="pres">
      <dgm:prSet presAssocID="{F53F1C76-C689-4B0B-AC1D-BA018064B8F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B12349-4377-4279-AF8E-DD9A0E857F22}" type="pres">
      <dgm:prSet presAssocID="{F53F1C76-C689-4B0B-AC1D-BA018064B8F5}" presName="spaceRect" presStyleCnt="0"/>
      <dgm:spPr/>
    </dgm:pt>
    <dgm:pt modelId="{D82ADB9F-EFDA-4A00-95AB-12EEB63DACF8}" type="pres">
      <dgm:prSet presAssocID="{F53F1C76-C689-4B0B-AC1D-BA018064B8F5}" presName="parTx" presStyleLbl="revTx" presStyleIdx="1" presStyleCnt="5">
        <dgm:presLayoutVars>
          <dgm:chMax val="0"/>
          <dgm:chPref val="0"/>
        </dgm:presLayoutVars>
      </dgm:prSet>
      <dgm:spPr/>
    </dgm:pt>
    <dgm:pt modelId="{445B3126-361E-4CBF-9C9B-9338B25BE9DB}" type="pres">
      <dgm:prSet presAssocID="{5CC2E148-1185-45D0-BE27-A8521C727F10}" presName="sibTrans" presStyleCnt="0"/>
      <dgm:spPr/>
    </dgm:pt>
    <dgm:pt modelId="{B4731944-EC32-49EF-959D-434BDF7A7DE8}" type="pres">
      <dgm:prSet presAssocID="{01A888C1-AB2D-4826-8B54-C57FD34984D2}" presName="compNode" presStyleCnt="0"/>
      <dgm:spPr/>
    </dgm:pt>
    <dgm:pt modelId="{85205949-0FE9-4A58-AE38-8070F2FF9449}" type="pres">
      <dgm:prSet presAssocID="{01A888C1-AB2D-4826-8B54-C57FD34984D2}" presName="bgRect" presStyleLbl="bgShp" presStyleIdx="2" presStyleCnt="5"/>
      <dgm:spPr/>
    </dgm:pt>
    <dgm:pt modelId="{CE0CE2E5-BB7C-4388-BB4F-A9174A7BA112}" type="pres">
      <dgm:prSet presAssocID="{01A888C1-AB2D-4826-8B54-C57FD34984D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888E90CC-C41A-43C8-9EE0-DB4E1FA36845}" type="pres">
      <dgm:prSet presAssocID="{01A888C1-AB2D-4826-8B54-C57FD34984D2}" presName="spaceRect" presStyleCnt="0"/>
      <dgm:spPr/>
    </dgm:pt>
    <dgm:pt modelId="{9A705AB2-0B15-4D3C-98D4-AD2A64C7107E}" type="pres">
      <dgm:prSet presAssocID="{01A888C1-AB2D-4826-8B54-C57FD34984D2}" presName="parTx" presStyleLbl="revTx" presStyleIdx="2" presStyleCnt="5">
        <dgm:presLayoutVars>
          <dgm:chMax val="0"/>
          <dgm:chPref val="0"/>
        </dgm:presLayoutVars>
      </dgm:prSet>
      <dgm:spPr/>
    </dgm:pt>
    <dgm:pt modelId="{9AFF7DC7-D3F7-4AC4-AC7A-22B3615B5516}" type="pres">
      <dgm:prSet presAssocID="{5102C717-9C2F-42BE-A772-ECF3B48C49E5}" presName="sibTrans" presStyleCnt="0"/>
      <dgm:spPr/>
    </dgm:pt>
    <dgm:pt modelId="{2F9C9FB3-9F91-4367-BED3-CBC35CFFF9C2}" type="pres">
      <dgm:prSet presAssocID="{1D358878-E11A-482A-969A-20E45C07B34F}" presName="compNode" presStyleCnt="0"/>
      <dgm:spPr/>
    </dgm:pt>
    <dgm:pt modelId="{49189833-D615-470D-9A32-73D3A2B03596}" type="pres">
      <dgm:prSet presAssocID="{1D358878-E11A-482A-969A-20E45C07B34F}" presName="bgRect" presStyleLbl="bgShp" presStyleIdx="3" presStyleCnt="5"/>
      <dgm:spPr/>
    </dgm:pt>
    <dgm:pt modelId="{C2FF4740-B3A0-4132-B4C5-3296BCAE3728}" type="pres">
      <dgm:prSet presAssocID="{1D358878-E11A-482A-969A-20E45C07B34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08A6F10-2B27-480C-B449-FA006360D5E7}" type="pres">
      <dgm:prSet presAssocID="{1D358878-E11A-482A-969A-20E45C07B34F}" presName="spaceRect" presStyleCnt="0"/>
      <dgm:spPr/>
    </dgm:pt>
    <dgm:pt modelId="{9C48C36C-17CB-419E-A8D8-B8580EB137CA}" type="pres">
      <dgm:prSet presAssocID="{1D358878-E11A-482A-969A-20E45C07B34F}" presName="parTx" presStyleLbl="revTx" presStyleIdx="3" presStyleCnt="5">
        <dgm:presLayoutVars>
          <dgm:chMax val="0"/>
          <dgm:chPref val="0"/>
        </dgm:presLayoutVars>
      </dgm:prSet>
      <dgm:spPr/>
    </dgm:pt>
    <dgm:pt modelId="{D186DB79-1CE6-4D60-9168-BD933E452FAA}" type="pres">
      <dgm:prSet presAssocID="{54DDC243-A6FC-4AD4-B96A-714D86A03AEB}" presName="sibTrans" presStyleCnt="0"/>
      <dgm:spPr/>
    </dgm:pt>
    <dgm:pt modelId="{3ABC485B-3700-47E0-ABFD-9A2DCCD364D5}" type="pres">
      <dgm:prSet presAssocID="{B07F39F0-CC19-4EBE-B84F-1571698467CB}" presName="compNode" presStyleCnt="0"/>
      <dgm:spPr/>
    </dgm:pt>
    <dgm:pt modelId="{0F5D41C1-A7CD-43B9-B982-9E118885C069}" type="pres">
      <dgm:prSet presAssocID="{B07F39F0-CC19-4EBE-B84F-1571698467CB}" presName="bgRect" presStyleLbl="bgShp" presStyleIdx="4" presStyleCnt="5"/>
      <dgm:spPr/>
    </dgm:pt>
    <dgm:pt modelId="{C463E368-A083-43E9-B32C-B6C9614E7298}" type="pres">
      <dgm:prSet presAssocID="{B07F39F0-CC19-4EBE-B84F-1571698467C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6C22EA54-C7C6-45DD-8925-6154D3B8A237}" type="pres">
      <dgm:prSet presAssocID="{B07F39F0-CC19-4EBE-B84F-1571698467CB}" presName="spaceRect" presStyleCnt="0"/>
      <dgm:spPr/>
    </dgm:pt>
    <dgm:pt modelId="{E21E3C0B-63DC-42DB-B4E4-6479E10027F7}" type="pres">
      <dgm:prSet presAssocID="{B07F39F0-CC19-4EBE-B84F-1571698467C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CEE730-C66E-4069-9315-9F70F8533771}" type="presOf" srcId="{01A888C1-AB2D-4826-8B54-C57FD34984D2}" destId="{9A705AB2-0B15-4D3C-98D4-AD2A64C7107E}" srcOrd="0" destOrd="0" presId="urn:microsoft.com/office/officeart/2018/2/layout/IconVerticalSolidList"/>
    <dgm:cxn modelId="{083B8952-6C47-4E79-91CE-552DF5351ACB}" type="presOf" srcId="{A6C6687C-62DD-42D2-B715-DEE6BF77A4F0}" destId="{329DA4F3-6C29-46A5-8B85-58B93B854529}" srcOrd="0" destOrd="0" presId="urn:microsoft.com/office/officeart/2018/2/layout/IconVerticalSolidList"/>
    <dgm:cxn modelId="{0EB68D93-F788-4EF5-BF2D-EB4EDA4C2E07}" srcId="{5D6F785D-4B6D-424A-ABDE-2367C6593724}" destId="{01A888C1-AB2D-4826-8B54-C57FD34984D2}" srcOrd="2" destOrd="0" parTransId="{48A40A04-4F0B-453E-A4B6-E1AD2076B334}" sibTransId="{5102C717-9C2F-42BE-A772-ECF3B48C49E5}"/>
    <dgm:cxn modelId="{58FA389D-FECD-4FD0-8D89-A6816DA61A0D}" type="presOf" srcId="{F53F1C76-C689-4B0B-AC1D-BA018064B8F5}" destId="{D82ADB9F-EFDA-4A00-95AB-12EEB63DACF8}" srcOrd="0" destOrd="0" presId="urn:microsoft.com/office/officeart/2018/2/layout/IconVerticalSolidList"/>
    <dgm:cxn modelId="{71BB70A1-8334-400E-BCB1-7B06A6A27480}" type="presOf" srcId="{B07F39F0-CC19-4EBE-B84F-1571698467CB}" destId="{E21E3C0B-63DC-42DB-B4E4-6479E10027F7}" srcOrd="0" destOrd="0" presId="urn:microsoft.com/office/officeart/2018/2/layout/IconVerticalSolidList"/>
    <dgm:cxn modelId="{D11686B9-9230-4CC0-B9D1-55505FC6FC68}" srcId="{5D6F785D-4B6D-424A-ABDE-2367C6593724}" destId="{A6C6687C-62DD-42D2-B715-DEE6BF77A4F0}" srcOrd="0" destOrd="0" parTransId="{01C20E8D-A902-443A-9661-3CD291628E99}" sibTransId="{0BB6527B-1F96-4A5E-91A8-A84596301533}"/>
    <dgm:cxn modelId="{76D6E8CE-6A11-44E1-9A27-50B26FC2DA71}" srcId="{5D6F785D-4B6D-424A-ABDE-2367C6593724}" destId="{F53F1C76-C689-4B0B-AC1D-BA018064B8F5}" srcOrd="1" destOrd="0" parTransId="{913B9480-B57A-4467-930C-2694736E69F3}" sibTransId="{5CC2E148-1185-45D0-BE27-A8521C727F10}"/>
    <dgm:cxn modelId="{9E3B60D4-5B9C-458A-AB94-F38BE7476693}" srcId="{5D6F785D-4B6D-424A-ABDE-2367C6593724}" destId="{1D358878-E11A-482A-969A-20E45C07B34F}" srcOrd="3" destOrd="0" parTransId="{D012B614-AFF0-4490-81C9-071E008996D1}" sibTransId="{54DDC243-A6FC-4AD4-B96A-714D86A03AEB}"/>
    <dgm:cxn modelId="{A98FCDDB-9219-43D4-9CCC-59EE90E3743C}" type="presOf" srcId="{1D358878-E11A-482A-969A-20E45C07B34F}" destId="{9C48C36C-17CB-419E-A8D8-B8580EB137CA}" srcOrd="0" destOrd="0" presId="urn:microsoft.com/office/officeart/2018/2/layout/IconVerticalSolidList"/>
    <dgm:cxn modelId="{D7877DEE-2023-4B46-B773-D3A9B5E9B3B0}" srcId="{5D6F785D-4B6D-424A-ABDE-2367C6593724}" destId="{B07F39F0-CC19-4EBE-B84F-1571698467CB}" srcOrd="4" destOrd="0" parTransId="{CEDFA5DC-A250-4BC8-B212-8350489A31B6}" sibTransId="{E6313963-EF6A-4442-BB03-2F6AC9F4103E}"/>
    <dgm:cxn modelId="{9CA6BCFF-1772-4906-A707-5F5702DF17F4}" type="presOf" srcId="{5D6F785D-4B6D-424A-ABDE-2367C6593724}" destId="{1B9755D7-22C2-4214-A5F1-F8AF3CED2C73}" srcOrd="0" destOrd="0" presId="urn:microsoft.com/office/officeart/2018/2/layout/IconVerticalSolidList"/>
    <dgm:cxn modelId="{EE5C16DF-4213-4305-B73F-BAEE8B62EFFC}" type="presParOf" srcId="{1B9755D7-22C2-4214-A5F1-F8AF3CED2C73}" destId="{43C57955-AF68-47BB-92C0-BBDC57CA6F73}" srcOrd="0" destOrd="0" presId="urn:microsoft.com/office/officeart/2018/2/layout/IconVerticalSolidList"/>
    <dgm:cxn modelId="{B73F092C-DCCB-48AD-9E76-A25FAC56AA68}" type="presParOf" srcId="{43C57955-AF68-47BB-92C0-BBDC57CA6F73}" destId="{A85D51A1-BAC8-402E-93A4-90A0C99BF506}" srcOrd="0" destOrd="0" presId="urn:microsoft.com/office/officeart/2018/2/layout/IconVerticalSolidList"/>
    <dgm:cxn modelId="{043FC2B3-3757-433E-A4DB-46E256F13B1E}" type="presParOf" srcId="{43C57955-AF68-47BB-92C0-BBDC57CA6F73}" destId="{9D834A84-D288-422F-9C3D-4EE398398D1E}" srcOrd="1" destOrd="0" presId="urn:microsoft.com/office/officeart/2018/2/layout/IconVerticalSolidList"/>
    <dgm:cxn modelId="{0A100515-B637-440B-803B-7CE263F784C8}" type="presParOf" srcId="{43C57955-AF68-47BB-92C0-BBDC57CA6F73}" destId="{88498B6B-0DEE-4AF4-879B-2B6F28A2424B}" srcOrd="2" destOrd="0" presId="urn:microsoft.com/office/officeart/2018/2/layout/IconVerticalSolidList"/>
    <dgm:cxn modelId="{A9E96217-8AA8-46CA-A4F0-3A124F598DC3}" type="presParOf" srcId="{43C57955-AF68-47BB-92C0-BBDC57CA6F73}" destId="{329DA4F3-6C29-46A5-8B85-58B93B854529}" srcOrd="3" destOrd="0" presId="urn:microsoft.com/office/officeart/2018/2/layout/IconVerticalSolidList"/>
    <dgm:cxn modelId="{66BAE4D9-C255-45C2-BD32-495B3419387F}" type="presParOf" srcId="{1B9755D7-22C2-4214-A5F1-F8AF3CED2C73}" destId="{C84D6A8B-AAD4-4FF5-9976-D3BF7EF00D3A}" srcOrd="1" destOrd="0" presId="urn:microsoft.com/office/officeart/2018/2/layout/IconVerticalSolidList"/>
    <dgm:cxn modelId="{1FFE2C1C-DFC1-475A-8A7A-314B2B4C0264}" type="presParOf" srcId="{1B9755D7-22C2-4214-A5F1-F8AF3CED2C73}" destId="{4C18B76D-6E1A-4A5B-803D-59790369B1E1}" srcOrd="2" destOrd="0" presId="urn:microsoft.com/office/officeart/2018/2/layout/IconVerticalSolidList"/>
    <dgm:cxn modelId="{459E4022-ACFE-474A-908A-98BA469ED394}" type="presParOf" srcId="{4C18B76D-6E1A-4A5B-803D-59790369B1E1}" destId="{86AC26B1-F4D2-4C50-813B-453F4DFA06E6}" srcOrd="0" destOrd="0" presId="urn:microsoft.com/office/officeart/2018/2/layout/IconVerticalSolidList"/>
    <dgm:cxn modelId="{8BE33118-AB6F-43D2-BDEC-D07E4D38BDCB}" type="presParOf" srcId="{4C18B76D-6E1A-4A5B-803D-59790369B1E1}" destId="{3CCBEE2E-4049-404F-B1D3-1E48DDD56FAA}" srcOrd="1" destOrd="0" presId="urn:microsoft.com/office/officeart/2018/2/layout/IconVerticalSolidList"/>
    <dgm:cxn modelId="{A910016A-3E1C-41A0-9F82-55A4570317D7}" type="presParOf" srcId="{4C18B76D-6E1A-4A5B-803D-59790369B1E1}" destId="{65B12349-4377-4279-AF8E-DD9A0E857F22}" srcOrd="2" destOrd="0" presId="urn:microsoft.com/office/officeart/2018/2/layout/IconVerticalSolidList"/>
    <dgm:cxn modelId="{924ADBD6-635C-4A13-BFE8-C43602C175AC}" type="presParOf" srcId="{4C18B76D-6E1A-4A5B-803D-59790369B1E1}" destId="{D82ADB9F-EFDA-4A00-95AB-12EEB63DACF8}" srcOrd="3" destOrd="0" presId="urn:microsoft.com/office/officeart/2018/2/layout/IconVerticalSolidList"/>
    <dgm:cxn modelId="{4F6B629B-57AF-4EA1-8181-D699B1E04789}" type="presParOf" srcId="{1B9755D7-22C2-4214-A5F1-F8AF3CED2C73}" destId="{445B3126-361E-4CBF-9C9B-9338B25BE9DB}" srcOrd="3" destOrd="0" presId="urn:microsoft.com/office/officeart/2018/2/layout/IconVerticalSolidList"/>
    <dgm:cxn modelId="{6EE76769-7F01-432B-8DB7-DFE8E4997111}" type="presParOf" srcId="{1B9755D7-22C2-4214-A5F1-F8AF3CED2C73}" destId="{B4731944-EC32-49EF-959D-434BDF7A7DE8}" srcOrd="4" destOrd="0" presId="urn:microsoft.com/office/officeart/2018/2/layout/IconVerticalSolidList"/>
    <dgm:cxn modelId="{ADE93193-9541-4ED1-A1F8-E7BAE7F508AF}" type="presParOf" srcId="{B4731944-EC32-49EF-959D-434BDF7A7DE8}" destId="{85205949-0FE9-4A58-AE38-8070F2FF9449}" srcOrd="0" destOrd="0" presId="urn:microsoft.com/office/officeart/2018/2/layout/IconVerticalSolidList"/>
    <dgm:cxn modelId="{FD7BF924-C19D-452E-BEFD-8E7ED01E5DC5}" type="presParOf" srcId="{B4731944-EC32-49EF-959D-434BDF7A7DE8}" destId="{CE0CE2E5-BB7C-4388-BB4F-A9174A7BA112}" srcOrd="1" destOrd="0" presId="urn:microsoft.com/office/officeart/2018/2/layout/IconVerticalSolidList"/>
    <dgm:cxn modelId="{F760C59F-DF44-40E6-8F78-BB36DD40D2D8}" type="presParOf" srcId="{B4731944-EC32-49EF-959D-434BDF7A7DE8}" destId="{888E90CC-C41A-43C8-9EE0-DB4E1FA36845}" srcOrd="2" destOrd="0" presId="urn:microsoft.com/office/officeart/2018/2/layout/IconVerticalSolidList"/>
    <dgm:cxn modelId="{A35851B0-6099-46D9-A3CF-6AEEE1D06711}" type="presParOf" srcId="{B4731944-EC32-49EF-959D-434BDF7A7DE8}" destId="{9A705AB2-0B15-4D3C-98D4-AD2A64C7107E}" srcOrd="3" destOrd="0" presId="urn:microsoft.com/office/officeart/2018/2/layout/IconVerticalSolidList"/>
    <dgm:cxn modelId="{A14E87E9-0C0F-4879-9835-7113A933FE1A}" type="presParOf" srcId="{1B9755D7-22C2-4214-A5F1-F8AF3CED2C73}" destId="{9AFF7DC7-D3F7-4AC4-AC7A-22B3615B5516}" srcOrd="5" destOrd="0" presId="urn:microsoft.com/office/officeart/2018/2/layout/IconVerticalSolidList"/>
    <dgm:cxn modelId="{9AF1FBAA-3F27-4452-8F81-CF4F36B42E50}" type="presParOf" srcId="{1B9755D7-22C2-4214-A5F1-F8AF3CED2C73}" destId="{2F9C9FB3-9F91-4367-BED3-CBC35CFFF9C2}" srcOrd="6" destOrd="0" presId="urn:microsoft.com/office/officeart/2018/2/layout/IconVerticalSolidList"/>
    <dgm:cxn modelId="{6393E599-EC0A-4FA8-A7E5-3D4D6ACE6D18}" type="presParOf" srcId="{2F9C9FB3-9F91-4367-BED3-CBC35CFFF9C2}" destId="{49189833-D615-470D-9A32-73D3A2B03596}" srcOrd="0" destOrd="0" presId="urn:microsoft.com/office/officeart/2018/2/layout/IconVerticalSolidList"/>
    <dgm:cxn modelId="{673E9C28-66B5-4053-8581-C1F2FEC0F319}" type="presParOf" srcId="{2F9C9FB3-9F91-4367-BED3-CBC35CFFF9C2}" destId="{C2FF4740-B3A0-4132-B4C5-3296BCAE3728}" srcOrd="1" destOrd="0" presId="urn:microsoft.com/office/officeart/2018/2/layout/IconVerticalSolidList"/>
    <dgm:cxn modelId="{B431B1C3-527F-4068-8FC2-74B1412FB495}" type="presParOf" srcId="{2F9C9FB3-9F91-4367-BED3-CBC35CFFF9C2}" destId="{808A6F10-2B27-480C-B449-FA006360D5E7}" srcOrd="2" destOrd="0" presId="urn:microsoft.com/office/officeart/2018/2/layout/IconVerticalSolidList"/>
    <dgm:cxn modelId="{8317C0FB-9B7B-4A97-A640-61469C7F9138}" type="presParOf" srcId="{2F9C9FB3-9F91-4367-BED3-CBC35CFFF9C2}" destId="{9C48C36C-17CB-419E-A8D8-B8580EB137CA}" srcOrd="3" destOrd="0" presId="urn:microsoft.com/office/officeart/2018/2/layout/IconVerticalSolidList"/>
    <dgm:cxn modelId="{6CDC3209-B968-4756-BF5A-0CBD4B3AF981}" type="presParOf" srcId="{1B9755D7-22C2-4214-A5F1-F8AF3CED2C73}" destId="{D186DB79-1CE6-4D60-9168-BD933E452FAA}" srcOrd="7" destOrd="0" presId="urn:microsoft.com/office/officeart/2018/2/layout/IconVerticalSolidList"/>
    <dgm:cxn modelId="{D5B1B69E-F89E-47CF-8050-D05C827231C1}" type="presParOf" srcId="{1B9755D7-22C2-4214-A5F1-F8AF3CED2C73}" destId="{3ABC485B-3700-47E0-ABFD-9A2DCCD364D5}" srcOrd="8" destOrd="0" presId="urn:microsoft.com/office/officeart/2018/2/layout/IconVerticalSolidList"/>
    <dgm:cxn modelId="{90F309D6-0286-42C0-A472-5CE60B217D67}" type="presParOf" srcId="{3ABC485B-3700-47E0-ABFD-9A2DCCD364D5}" destId="{0F5D41C1-A7CD-43B9-B982-9E118885C069}" srcOrd="0" destOrd="0" presId="urn:microsoft.com/office/officeart/2018/2/layout/IconVerticalSolidList"/>
    <dgm:cxn modelId="{793F452F-D915-4452-946E-C2FECC63B3E3}" type="presParOf" srcId="{3ABC485B-3700-47E0-ABFD-9A2DCCD364D5}" destId="{C463E368-A083-43E9-B32C-B6C9614E7298}" srcOrd="1" destOrd="0" presId="urn:microsoft.com/office/officeart/2018/2/layout/IconVerticalSolidList"/>
    <dgm:cxn modelId="{7AFAE406-40B5-4C67-85A0-77BA55872162}" type="presParOf" srcId="{3ABC485B-3700-47E0-ABFD-9A2DCCD364D5}" destId="{6C22EA54-C7C6-45DD-8925-6154D3B8A237}" srcOrd="2" destOrd="0" presId="urn:microsoft.com/office/officeart/2018/2/layout/IconVerticalSolidList"/>
    <dgm:cxn modelId="{6C12FFA6-3D32-4D39-A5E0-333E62CBBE58}" type="presParOf" srcId="{3ABC485B-3700-47E0-ABFD-9A2DCCD364D5}" destId="{E21E3C0B-63DC-42DB-B4E4-6479E10027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D51A1-BAC8-402E-93A4-90A0C99BF506}">
      <dsp:nvSpPr>
        <dsp:cNvPr id="0" name=""/>
        <dsp:cNvSpPr/>
      </dsp:nvSpPr>
      <dsp:spPr>
        <a:xfrm>
          <a:off x="0" y="4123"/>
          <a:ext cx="10976759" cy="8783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34A84-D288-422F-9C3D-4EE398398D1E}">
      <dsp:nvSpPr>
        <dsp:cNvPr id="0" name=""/>
        <dsp:cNvSpPr/>
      </dsp:nvSpPr>
      <dsp:spPr>
        <a:xfrm>
          <a:off x="265700" y="201752"/>
          <a:ext cx="483091" cy="483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DA4F3-6C29-46A5-8B85-58B93B854529}">
      <dsp:nvSpPr>
        <dsp:cNvPr id="0" name=""/>
        <dsp:cNvSpPr/>
      </dsp:nvSpPr>
      <dsp:spPr>
        <a:xfrm>
          <a:off x="1014492" y="4123"/>
          <a:ext cx="9962266" cy="87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9" tIns="92959" rIns="92959" bIns="9295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The ideal-simulator hybrid model is expected to achieve reasonable classification accuracy on the compressed feature set, confirming the ansatz can learn a meaningful decision boundary. </a:t>
          </a:r>
          <a:endParaRPr lang="en-US" sz="1500" kern="1200"/>
        </a:p>
      </dsp:txBody>
      <dsp:txXfrm>
        <a:off x="1014492" y="4123"/>
        <a:ext cx="9962266" cy="878348"/>
      </dsp:txXfrm>
    </dsp:sp>
    <dsp:sp modelId="{86AC26B1-F4D2-4C50-813B-453F4DFA06E6}">
      <dsp:nvSpPr>
        <dsp:cNvPr id="0" name=""/>
        <dsp:cNvSpPr/>
      </dsp:nvSpPr>
      <dsp:spPr>
        <a:xfrm>
          <a:off x="0" y="1102059"/>
          <a:ext cx="10976759" cy="8783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BEE2E-4049-404F-B1D3-1E48DDD56FAA}">
      <dsp:nvSpPr>
        <dsp:cNvPr id="0" name=""/>
        <dsp:cNvSpPr/>
      </dsp:nvSpPr>
      <dsp:spPr>
        <a:xfrm>
          <a:off x="265700" y="1299687"/>
          <a:ext cx="483091" cy="483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ADB9F-EFDA-4A00-95AB-12EEB63DACF8}">
      <dsp:nvSpPr>
        <dsp:cNvPr id="0" name=""/>
        <dsp:cNvSpPr/>
      </dsp:nvSpPr>
      <dsp:spPr>
        <a:xfrm>
          <a:off x="1014492" y="1102059"/>
          <a:ext cx="9962266" cy="87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9" tIns="92959" rIns="92959" bIns="9295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The manually built ansatz is expected to perform comparably to  though not necessarily better than the auto-generated circuits used in prior hybrid VQC imaging work, with the key contribution being interpretability rather than raw accuracy. </a:t>
          </a:r>
          <a:endParaRPr lang="en-US" sz="1500" kern="1200"/>
        </a:p>
      </dsp:txBody>
      <dsp:txXfrm>
        <a:off x="1014492" y="1102059"/>
        <a:ext cx="9962266" cy="878348"/>
      </dsp:txXfrm>
    </dsp:sp>
    <dsp:sp modelId="{85205949-0FE9-4A58-AE38-8070F2FF9449}">
      <dsp:nvSpPr>
        <dsp:cNvPr id="0" name=""/>
        <dsp:cNvSpPr/>
      </dsp:nvSpPr>
      <dsp:spPr>
        <a:xfrm>
          <a:off x="0" y="2199995"/>
          <a:ext cx="10976759" cy="8783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CE2E5-BB7C-4388-BB4F-A9174A7BA112}">
      <dsp:nvSpPr>
        <dsp:cNvPr id="0" name=""/>
        <dsp:cNvSpPr/>
      </dsp:nvSpPr>
      <dsp:spPr>
        <a:xfrm>
          <a:off x="265700" y="2397623"/>
          <a:ext cx="483091" cy="483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05AB2-0B15-4D3C-98D4-AD2A64C7107E}">
      <dsp:nvSpPr>
        <dsp:cNvPr id="0" name=""/>
        <dsp:cNvSpPr/>
      </dsp:nvSpPr>
      <dsp:spPr>
        <a:xfrm>
          <a:off x="1014492" y="2199995"/>
          <a:ext cx="9962266" cy="87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9" tIns="92959" rIns="92959" bIns="9295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Real-hardware runs (where accessible) are expected to show reduced accuracy relative to the simulator, due to gate noise and limited qubit coherence this gap itself is a result worth reporting.</a:t>
          </a:r>
          <a:endParaRPr lang="en-US" sz="1500" kern="1200"/>
        </a:p>
      </dsp:txBody>
      <dsp:txXfrm>
        <a:off x="1014492" y="2199995"/>
        <a:ext cx="9962266" cy="878348"/>
      </dsp:txXfrm>
    </dsp:sp>
    <dsp:sp modelId="{49189833-D615-470D-9A32-73D3A2B03596}">
      <dsp:nvSpPr>
        <dsp:cNvPr id="0" name=""/>
        <dsp:cNvSpPr/>
      </dsp:nvSpPr>
      <dsp:spPr>
        <a:xfrm>
          <a:off x="0" y="3297930"/>
          <a:ext cx="10976759" cy="8783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FF4740-B3A0-4132-B4C5-3296BCAE3728}">
      <dsp:nvSpPr>
        <dsp:cNvPr id="0" name=""/>
        <dsp:cNvSpPr/>
      </dsp:nvSpPr>
      <dsp:spPr>
        <a:xfrm>
          <a:off x="265700" y="3495559"/>
          <a:ext cx="483091" cy="483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8C36C-17CB-419E-A8D8-B8580EB137CA}">
      <dsp:nvSpPr>
        <dsp:cNvPr id="0" name=""/>
        <dsp:cNvSpPr/>
      </dsp:nvSpPr>
      <dsp:spPr>
        <a:xfrm>
          <a:off x="1014492" y="3297930"/>
          <a:ext cx="9962266" cy="87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9" tIns="92959" rIns="92959" bIns="9295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Success is evaluated primarily via accuracy and F1-score, compared against: (a) the classical-only baseline, and (b) benchmark figures reported in the closest prior papers (blood cell and kidney disease VQC studies). </a:t>
          </a:r>
          <a:endParaRPr lang="en-US" sz="1500" kern="1200"/>
        </a:p>
      </dsp:txBody>
      <dsp:txXfrm>
        <a:off x="1014492" y="3297930"/>
        <a:ext cx="9962266" cy="878348"/>
      </dsp:txXfrm>
    </dsp:sp>
    <dsp:sp modelId="{0F5D41C1-A7CD-43B9-B982-9E118885C069}">
      <dsp:nvSpPr>
        <dsp:cNvPr id="0" name=""/>
        <dsp:cNvSpPr/>
      </dsp:nvSpPr>
      <dsp:spPr>
        <a:xfrm>
          <a:off x="0" y="4395866"/>
          <a:ext cx="10976759" cy="8783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3E368-A083-43E9-B32C-B6C9614E7298}">
      <dsp:nvSpPr>
        <dsp:cNvPr id="0" name=""/>
        <dsp:cNvSpPr/>
      </dsp:nvSpPr>
      <dsp:spPr>
        <a:xfrm>
          <a:off x="265700" y="4593495"/>
          <a:ext cx="483091" cy="4830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1E3C0B-63DC-42DB-B4E4-6479E10027F7}">
      <dsp:nvSpPr>
        <dsp:cNvPr id="0" name=""/>
        <dsp:cNvSpPr/>
      </dsp:nvSpPr>
      <dsp:spPr>
        <a:xfrm>
          <a:off x="1014492" y="4395866"/>
          <a:ext cx="9962266" cy="878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9" tIns="92959" rIns="92959" bIns="9295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Secondary evaluation: how ansatz depth (number of variational layers) trades off against training stability and final accuracy.</a:t>
          </a:r>
          <a:endParaRPr lang="en-US" sz="1500" kern="1200"/>
        </a:p>
      </dsp:txBody>
      <dsp:txXfrm>
        <a:off x="1014492" y="4395866"/>
        <a:ext cx="9962266" cy="878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49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81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463" y="1944574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  ·  PROJECT PROPOSAL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3072" y="2692096"/>
            <a:ext cx="11185855" cy="11540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8000"/>
              </a:lnSpc>
              <a:buNone/>
            </a:pP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914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  <p:pic>
        <p:nvPicPr>
          <p:cNvPr id="9" name="Picture 8" descr="A logo with text on it&#10;&#10;Description automatically generated">
            <a:extLst>
              <a:ext uri="{FF2B5EF4-FFF2-40B4-BE49-F238E27FC236}">
                <a16:creationId xmlns:a16="http://schemas.microsoft.com/office/drawing/2014/main" id="{83C517F4-169C-F5CC-3EEE-32184C496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08" r="1389" b="33811"/>
          <a:stretch>
            <a:fillRect/>
          </a:stretch>
        </p:blipFill>
        <p:spPr>
          <a:xfrm>
            <a:off x="3205413" y="226513"/>
            <a:ext cx="5410200" cy="1749131"/>
          </a:xfrm>
          <a:prstGeom prst="rect">
            <a:avLst/>
          </a:prstGeom>
          <a:ln w="28575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2DF61B-831B-49DF-425B-4D862B294D28}"/>
              </a:ext>
            </a:extLst>
          </p:cNvPr>
          <p:cNvSpPr txBox="1"/>
          <p:nvPr/>
        </p:nvSpPr>
        <p:spPr>
          <a:xfrm>
            <a:off x="2862012" y="3884475"/>
            <a:ext cx="6097002" cy="184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IN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BATCH A - 17</a:t>
            </a:r>
            <a:endParaRPr lang="en-IN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A.R. NIRMAL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CB.AI.U4AID24001</a:t>
            </a:r>
            <a:endParaRPr lang="en-IN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GUNNALA DHEERAJ KUMAR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CB.AI.U4AID24017</a:t>
            </a:r>
            <a:endParaRPr lang="en-IN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MEERA S RAJ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CB.AI.U4AID24031</a:t>
            </a:r>
            <a:endParaRPr lang="en-IN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50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VISHNU VARDHAN N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CB.AI.U4AID24072</a:t>
            </a:r>
            <a:endParaRPr lang="en-IN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6D9C4-BD6A-E54D-B7C9-60927B503C6A}"/>
              </a:ext>
            </a:extLst>
          </p:cNvPr>
          <p:cNvSpPr txBox="1"/>
          <p:nvPr/>
        </p:nvSpPr>
        <p:spPr>
          <a:xfrm>
            <a:off x="1818623" y="2157171"/>
            <a:ext cx="856452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Aptos" panose="020B0004020202020204" pitchFamily="34" charset="0"/>
              </a:rPr>
              <a:t>23AID303 | QUANTUM COMPUTING &amp; ALGORITHMS</a:t>
            </a:r>
          </a:p>
          <a:p>
            <a:r>
              <a:rPr lang="en-US" sz="3200" b="1" dirty="0">
                <a:latin typeface="Aptos" panose="020B0004020202020204" pitchFamily="34" charset="0"/>
              </a:rPr>
              <a:t>HYBRID VARIATIONAL QUANTUM CLASSIFIER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FAA01AD-9902-519D-EA5A-28F6F42F3C69}"/>
              </a:ext>
            </a:extLst>
          </p:cNvPr>
          <p:cNvSpPr/>
          <p:nvPr/>
        </p:nvSpPr>
        <p:spPr>
          <a:xfrm>
            <a:off x="2565075" y="32691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/>
              <a:t>Medical Image Classification via a Manually Constructed Quantum Ansatz</a:t>
            </a:r>
            <a:endParaRPr lang="en-US" sz="1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43FD332-B44F-3184-22C4-3C76F0189AF1}"/>
              </a:ext>
            </a:extLst>
          </p:cNvPr>
          <p:cNvSpPr/>
          <p:nvPr/>
        </p:nvSpPr>
        <p:spPr>
          <a:xfrm flipV="1">
            <a:off x="2571781" y="3306471"/>
            <a:ext cx="6791178" cy="334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10002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IN" sz="1600" dirty="0"/>
              <a:t>Quantum computers today are noisy and limited in qubit count (NISQ era), so a pure quantum classifier cannot yet process real-world data like medical images on its own.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IN" sz="1600" dirty="0"/>
              <a:t>Classical deep learning is very good at compressing high-dimensional image data into small feature sets, but cannot access the richer, entangled feature space that quantum circuits can represent. 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IN" sz="1600" dirty="0"/>
              <a:t>Most existing hybrid VQC studies either skip medical imaging entirely, or rely on auto-generated quantum circuits from high-level libraries rather than a transparent, manually built circuit making it hard to verify why the quantum layer actually helps.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IN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4526280"/>
            <a:ext cx="11000232" cy="0"/>
          </a:xfrm>
          <a:prstGeom prst="line">
            <a:avLst/>
          </a:prstGeom>
          <a:noFill/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this project addresses: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5074920"/>
            <a:ext cx="110002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IN" sz="1600" dirty="0"/>
              <a:t>Can a manually constructed variational quantum circuit, paired with classical feature compression, meaningfully classify medical images (e.g., skin lesions or MRI scans) on today's NISQ-era hardware/simulators?</a:t>
            </a:r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618488"/>
            <a:ext cx="103601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Classical Feature Extraction:</a:t>
            </a:r>
            <a:r>
              <a:rPr lang="en-IN" sz="1600" dirty="0"/>
              <a:t> Use PCA or a lightweight CNN to compress medical image data (skin lesion or MRI dataset) down to a 4-to-8 variable feature vector suitable for quantum encoding.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2496312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514600"/>
            <a:ext cx="103601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Quantum Encoding:</a:t>
            </a:r>
            <a:r>
              <a:rPr lang="en-IN" sz="1600" dirty="0"/>
              <a:t> Encode the compressed classical features into quantum states using angle embedding (Ry and Rz gates) on a small number of qubits.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392424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103601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Manually Constructed Ansatz:</a:t>
            </a:r>
            <a:r>
              <a:rPr lang="en-IN" sz="1600" dirty="0"/>
              <a:t> Build the variational quantum circuit from scratch using parameterized rotation gates and CNOT entanglement layers — without relying on a high-level auto-generated circuit template — to demonstrate a first-principles understanding of the underlying quantum mechanics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4288536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4306824"/>
            <a:ext cx="103601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Hybrid Training Loop:</a:t>
            </a:r>
            <a:r>
              <a:rPr lang="en-IN" sz="1600" dirty="0"/>
              <a:t> Implement the classical-quantum optimization loop (e.g., using a classical optimizer such as Adam) to iteratively update the ansatz parameters based on the training loss.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5184648"/>
            <a:ext cx="502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5202936"/>
            <a:ext cx="103601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Benchmark Against Literature:</a:t>
            </a:r>
            <a:r>
              <a:rPr lang="en-IN" sz="1600" dirty="0"/>
              <a:t> Compare the manually built ansatz's performance (accuracy, F1-score) against results reported by comparable hybrid VQC studies to evaluate whether a transparent, hand-built circuit is competitive with auto-generated ones.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B758BC-FD2C-99BB-F7C0-143A3BB19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97443"/>
              </p:ext>
            </p:extLst>
          </p:nvPr>
        </p:nvGraphicFramePr>
        <p:xfrm>
          <a:off x="1169330" y="1478959"/>
          <a:ext cx="9154038" cy="4446832"/>
        </p:xfrm>
        <a:graphic>
          <a:graphicData uri="http://schemas.openxmlformats.org/drawingml/2006/table">
            <a:tbl>
              <a:tblPr/>
              <a:tblGrid>
                <a:gridCol w="3051346">
                  <a:extLst>
                    <a:ext uri="{9D8B030D-6E8A-4147-A177-3AD203B41FA5}">
                      <a16:colId xmlns:a16="http://schemas.microsoft.com/office/drawing/2014/main" val="3565074062"/>
                    </a:ext>
                  </a:extLst>
                </a:gridCol>
                <a:gridCol w="3051346">
                  <a:extLst>
                    <a:ext uri="{9D8B030D-6E8A-4147-A177-3AD203B41FA5}">
                      <a16:colId xmlns:a16="http://schemas.microsoft.com/office/drawing/2014/main" val="1454851068"/>
                    </a:ext>
                  </a:extLst>
                </a:gridCol>
                <a:gridCol w="3051346">
                  <a:extLst>
                    <a:ext uri="{9D8B030D-6E8A-4147-A177-3AD203B41FA5}">
                      <a16:colId xmlns:a16="http://schemas.microsoft.com/office/drawing/2014/main" val="2380616881"/>
                    </a:ext>
                  </a:extLst>
                </a:gridCol>
              </a:tblGrid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Title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Year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Summary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581815"/>
                  </a:ext>
                </a:extLst>
              </a:tr>
              <a:tr h="958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Variational Quantum Classifier for Binary Classification: Real vs Synthetic Dataset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2022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Foundational VQC using amplitude encoding on synthetic, sonar, and diabetes datasets — establishes the core hybrid classification workflow.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192869"/>
                  </a:ext>
                </a:extLst>
              </a:tr>
              <a:tr h="1180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Hybrid Quantum Deep Learning and Variational Quantum Classifier-Based Model for Botnet DGA Attack Detection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2022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Combines classical deep learning feature extraction with VQC for cybersecurity; shows the hybrid architecture applied outside imaging.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79470"/>
                  </a:ext>
                </a:extLst>
              </a:tr>
              <a:tr h="958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Development of Variational Quantum Deep Neural Networks for Image Recognition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2022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Hybrid PCA + VQDNN architecture tested on image datasets — closely mirrors the pipeline structure proposed in this project.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608193"/>
                  </a:ext>
                </a:extLst>
              </a:tr>
              <a:tr h="958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Variational Quantum Circuit Based Demand Response in Building Energy Systems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2024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Applies hybrid VQC to a real-world optimization problem, demonstrating the generalizability of VQC beyond classification tasks.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394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44C8BB-13F0-B934-9473-DD8F1DC87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05012"/>
              </p:ext>
            </p:extLst>
          </p:nvPr>
        </p:nvGraphicFramePr>
        <p:xfrm>
          <a:off x="1678909" y="643466"/>
          <a:ext cx="8834183" cy="5571068"/>
        </p:xfrm>
        <a:graphic>
          <a:graphicData uri="http://schemas.openxmlformats.org/drawingml/2006/table">
            <a:tbl>
              <a:tblPr firstRow="1" bandRow="1"/>
              <a:tblGrid>
                <a:gridCol w="3835946">
                  <a:extLst>
                    <a:ext uri="{9D8B030D-6E8A-4147-A177-3AD203B41FA5}">
                      <a16:colId xmlns:a16="http://schemas.microsoft.com/office/drawing/2014/main" val="1425652103"/>
                    </a:ext>
                  </a:extLst>
                </a:gridCol>
                <a:gridCol w="1206644">
                  <a:extLst>
                    <a:ext uri="{9D8B030D-6E8A-4147-A177-3AD203B41FA5}">
                      <a16:colId xmlns:a16="http://schemas.microsoft.com/office/drawing/2014/main" val="3938385987"/>
                    </a:ext>
                  </a:extLst>
                </a:gridCol>
                <a:gridCol w="3791593">
                  <a:extLst>
                    <a:ext uri="{9D8B030D-6E8A-4147-A177-3AD203B41FA5}">
                      <a16:colId xmlns:a16="http://schemas.microsoft.com/office/drawing/2014/main" val="1759501287"/>
                    </a:ext>
                  </a:extLst>
                </a:gridCol>
              </a:tblGrid>
              <a:tr h="3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Title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Year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Summary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641665"/>
                  </a:ext>
                </a:extLst>
              </a:tr>
              <a:tr h="116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QTN-VQC: An End-to-End Learning Framework for Quantum Neural Networks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2024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Uses a trainable quantum tensor network for embedding, replacing manual ansatz design — a useful contrast to the white-box approach.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533864"/>
                  </a:ext>
                </a:extLst>
              </a:tr>
              <a:tr h="116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Fine-Tuned Variational Quantum Classifiers for Cyber Threat Detection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2024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Compares different VQC circuit and optimizer configurations; informs this project's methodology and ablation testing.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979366"/>
                  </a:ext>
                </a:extLst>
              </a:tr>
              <a:tr h="1424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Variational Quantum Classifier-Based Early Identification and Classification of Chronic Kidney Disease Using Sparse Autoencoder and LASSO Shrinkage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2025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Classical feature compression (autoencoder + LASSO) feeding into a VQC for medical diagnosis — strong structural parallel, though on tabular rather than imaging data.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739558"/>
                  </a:ext>
                </a:extLst>
              </a:tr>
              <a:tr h="1424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Efficient Blood Cell Classification Using a Hybrid Variational Quantum Circuit–</a:t>
                      </a:r>
                      <a:r>
                        <a:rPr lang="en-IN" sz="1700" dirty="0" err="1"/>
                        <a:t>EfficientNet</a:t>
                      </a:r>
                      <a:r>
                        <a:rPr lang="en-IN" sz="1700" dirty="0"/>
                        <a:t> Model on </a:t>
                      </a:r>
                      <a:r>
                        <a:rPr lang="en-IN" sz="1700" dirty="0" err="1"/>
                        <a:t>BloodMNIST</a:t>
                      </a:r>
                      <a:endParaRPr lang="en-IN" sz="1700" dirty="0"/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2025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Closest match: a 6-qubit VQC combined with EfficientNet-B0 on a real medical image dataset — nearly identical hybrid pipeline to what's proposed here.</a:t>
                      </a:r>
                    </a:p>
                  </a:txBody>
                  <a:tcPr marL="83544" marR="83544" marT="41772" marB="41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81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532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Identified from Literature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10002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IN" sz="1600" dirty="0"/>
              <a:t>Most hybrid VQC work has been applied to non-medical domains (cybersecurity, energy systems, generic image benchmarks) rather than clinical imaging.</a:t>
            </a: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IN" sz="1600" dirty="0"/>
              <a:t>Where VQC has been applied to medical data, it is typically on </a:t>
            </a:r>
            <a:r>
              <a:rPr lang="en-IN" sz="1600" b="1" dirty="0"/>
              <a:t>tabular/structured data</a:t>
            </a:r>
            <a:r>
              <a:rPr lang="en-IN" sz="1600" dirty="0"/>
              <a:t> (e.g., chronic kidney disease) rather than </a:t>
            </a:r>
            <a:r>
              <a:rPr lang="en-IN" sz="1600" b="1" dirty="0"/>
              <a:t>image data</a:t>
            </a:r>
            <a:r>
              <a:rPr lang="en-IN" sz="1600" dirty="0"/>
              <a:t>.</a:t>
            </a: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IN" sz="1600" dirty="0"/>
              <a:t>Where VQC has been applied to medical </a:t>
            </a:r>
            <a:r>
              <a:rPr lang="en-IN" sz="1600" b="1" dirty="0"/>
              <a:t>imaging</a:t>
            </a:r>
            <a:r>
              <a:rPr lang="en-IN" sz="1600" dirty="0"/>
              <a:t> (blood cell classification), the ansatz is built using a high-level, auto-generated circuit template rather than a manually constructed, first-principles design — so the quantum layer's contribution is harder to verify or explain.</a:t>
            </a:r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IN" sz="1600" dirty="0"/>
              <a:t>Across the literature, comparisons rarely isolate whether a transparently built ansatz performs differently from an auto-generated one on the same task.</a:t>
            </a:r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Random Bit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7000" y="16002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F1CA83-0163-8165-A0E8-D5048E81D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947" y="0"/>
            <a:ext cx="31210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Experimental Setup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F0E8301-B470-DB7C-03FA-7B19C2D12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152743"/>
              </p:ext>
            </p:extLst>
          </p:nvPr>
        </p:nvGraphicFramePr>
        <p:xfrm>
          <a:off x="643467" y="1767347"/>
          <a:ext cx="10905067" cy="4209962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942021">
                  <a:extLst>
                    <a:ext uri="{9D8B030D-6E8A-4147-A177-3AD203B41FA5}">
                      <a16:colId xmlns:a16="http://schemas.microsoft.com/office/drawing/2014/main" val="3751972753"/>
                    </a:ext>
                  </a:extLst>
                </a:gridCol>
                <a:gridCol w="6963046">
                  <a:extLst>
                    <a:ext uri="{9D8B030D-6E8A-4147-A177-3AD203B41FA5}">
                      <a16:colId xmlns:a16="http://schemas.microsoft.com/office/drawing/2014/main" val="1735632751"/>
                    </a:ext>
                  </a:extLst>
                </a:gridCol>
              </a:tblGrid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Configuration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534806"/>
                  </a:ext>
                </a:extLst>
              </a:tr>
              <a:tr h="579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Downscaled medical imaging dataset (skin lesion subset or brain MRI slices), binary classification target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037296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Classical feature extractor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PCA or lightweight CNN, output reduced to 4–8 features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448395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Quantum encoding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Angle embedding (Ry, Rz gates), one qubit per feature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143710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Ansatz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Manually constructed, 2–3 variational layers, rotation gates + CNOT entanglement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10657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Pauli-Z expectation value on output qubit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8373"/>
                  </a:ext>
                </a:extLst>
              </a:tr>
              <a:tr h="579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Classical baseline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Equivalent classical classifier (e.g., SVM or shallow NN) trained on the same compressed features, for comparison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899461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Simulator / hardware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Qiskit Aer (ideal simulator); real IBM Quantum backend where feasible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014305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Optimizer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Adam (classical), updating ansatz parameters via the hybrid training loop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732404"/>
                  </a:ext>
                </a:extLst>
              </a:tr>
              <a:tr h="381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Environment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Standard laptop CPU; no GPU or cluster required at this qubit count</a:t>
                      </a:r>
                    </a:p>
                  </a:txBody>
                  <a:tcPr marL="69508" marR="49649" marT="43665" marB="992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056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 &amp; Evaluation Criteria</a:t>
            </a:r>
            <a:endParaRPr lang="en-US" sz="2700" dirty="0"/>
          </a:p>
        </p:txBody>
      </p:sp>
      <p:graphicFrame>
        <p:nvGraphicFramePr>
          <p:cNvPr id="20" name="TextBox 17">
            <a:extLst>
              <a:ext uri="{FF2B5EF4-FFF2-40B4-BE49-F238E27FC236}">
                <a16:creationId xmlns:a16="http://schemas.microsoft.com/office/drawing/2014/main" id="{99F968E4-908B-BFC9-3FED-AB05C53ACE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6501618"/>
              </p:ext>
            </p:extLst>
          </p:nvPr>
        </p:nvGraphicFramePr>
        <p:xfrm>
          <a:off x="663553" y="1111910"/>
          <a:ext cx="10976759" cy="5278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FIVE-WEEK PLAN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371600" cy="7863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691640"/>
            <a:ext cx="9445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Prepare and preprocess the medical imaging dataset; implement PCA/CNN feature extraction; validate the compressed feature vectors.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587752"/>
            <a:ext cx="1371600" cy="7863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2587752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2587752"/>
            <a:ext cx="9445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Build the manual quantum ansatz (encoding + variational layers + measurement) in </a:t>
            </a:r>
            <a:r>
              <a:rPr lang="en-IN" sz="1400" dirty="0" err="1"/>
              <a:t>Qiskit</a:t>
            </a:r>
            <a:r>
              <a:rPr lang="en-IN" sz="1400" dirty="0"/>
              <a:t>; test on the ideal simulator with dummy data.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483864"/>
            <a:ext cx="1371600" cy="7863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3483864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3483864"/>
            <a:ext cx="9445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Implement the hybrid training loop (classical optimizer + quantum circuit evaluation); train on the full compressed dataset; tune ansatz depth.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379976"/>
            <a:ext cx="1371600" cy="7863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4379976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4379976"/>
            <a:ext cx="9445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Run on real IBM Quantum hardware where feasible; compare simulator vs. hardware results; benchmark against the classical baseline and literature figures.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276088"/>
            <a:ext cx="1371600" cy="78638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5276088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5276088"/>
            <a:ext cx="94457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Analysis, discussion of findings, final report and presentation preparation.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1236</Words>
  <Application>Microsoft Office PowerPoint</Application>
  <PresentationFormat>Widescreen</PresentationFormat>
  <Paragraphs>118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Nirmal A R</cp:lastModifiedBy>
  <cp:revision>7</cp:revision>
  <dcterms:created xsi:type="dcterms:W3CDTF">2026-07-16T17:37:23Z</dcterms:created>
  <dcterms:modified xsi:type="dcterms:W3CDTF">2026-07-23T05:31:23Z</dcterms:modified>
</cp:coreProperties>
</file>